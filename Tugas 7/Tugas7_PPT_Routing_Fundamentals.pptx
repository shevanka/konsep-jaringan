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ROUTING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FA5"/>
                </a:solidFill>
                <a:latin typeface="Segoe UI"/>
              </a:defRPr>
            </a:pPr>
            <a:r>
              <a:t>Tugas 7 — Essay &amp; 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8C0"/>
                </a:solidFill>
                <a:latin typeface="Segoe UI"/>
              </a:defRPr>
            </a:pPr>
            <a:r>
              <a:t>Referensi: APNIC Academy — Routing Fundamentals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https://academy.apnic.net/en/course/routing-fundamentals-course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029200"/>
            <a:ext cx="1828800" cy="9144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Routing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5029200"/>
            <a:ext cx="1828800" cy="91440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Static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5029200"/>
            <a:ext cx="182880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OSPF Basics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029200"/>
            <a:ext cx="18288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4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IS-IS Basics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5029200"/>
            <a:ext cx="18288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BGP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📋  AGENDA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Routing Basics — Router, Forwarding, RIB/FIB, Longest Prefix Match, Klasifikasi Protokol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14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Use Cases of Static Routes — Default Route, Floating Static, Null Route, ECMP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OSPF Basics — Link-State, Area, LSA, Dijkstra SPF Algorithm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434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IS-IS Basics — CLNS, NSAP/NET, Level 1/2 Hierarchy, TLV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30352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94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BGP Basics — AS, EBGP/IBGP, Path Attributes, Best Path Selection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Routing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Apa Itu Router?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Router adalah perangkat Layer 3 (Network Layer) yang menghubungkan jaringan-jaringan berbeda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Switch bekerja di Layer 2 (MAC address) → dalam satu LAN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Router bekerja di Layer 3 (IP address) → antar jaringan (WAN/LAN)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Dua fungsi utama router: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  ▸ Control Plane (Routing) — membangun &amp; memelihara tabel routing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  ▸ Data Plane (Forwarding) — meneruskan paket berdasarkan tabel forwarding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286000"/>
            <a:ext cx="3840480" cy="320040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5"/>
                </a:solidFill>
                <a:latin typeface="Segoe UI"/>
              </a:defRPr>
            </a:pPr>
            <a:r>
              <a:t>🔑 Key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0175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Routing = Menghitung jalur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Forwarding = Memindahkan paket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Keduanya bekerja bersama tapi merupakan proses terpisah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Routing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Proses Forwarding Paket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50292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Dekapsulasi — Membuka frame 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44368"/>
            <a:ext cx="50292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900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Inspeksi Header — Membaca destination IP address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02736"/>
            <a:ext cx="50292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484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Table Lookup — Mencari rute di tabel routing (LPM)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61104"/>
            <a:ext cx="50292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068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Modifikasi — Mengurangi TTL sebesar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19472"/>
            <a:ext cx="50292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651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Enkapsulasi Ulang — Membungkus dalam frame L2 baru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577840"/>
            <a:ext cx="50292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Pengiriman — Mengirim melalui egress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Routing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RIB vs FIB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029200" cy="201168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5"/>
                </a:solidFill>
                <a:latin typeface="Segoe UI"/>
              </a:defRPr>
            </a:pPr>
            <a:r>
              <a:t>RIB (Routing Information 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Tabel routing utama di control plane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Berisi SEMUA rute dari semua sumber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Menggunakan Administrative Distance (AD)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untuk memilih rute terbaik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377440"/>
            <a:ext cx="5029200" cy="201168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FIB (Forwarding Information 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Tabel forwarding di data plane/hardware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Subset dari RIB (hanya rute terbaik)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Dioptimalkan untuk lookup cepat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Disimpan di TCAM (hardware)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Segoe UI"/>
              </a:defRPr>
            </a:pPr>
            <a:r>
              <a:t>Longest Prefix Match (LPM)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Router selalu memilih rute dengan prefix terpanjang (paling spesifik)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Contoh: Untuk tujuan 10.10.10.55 → /24 dipilih di atas /8 atau /0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Ini adalah mekanisme fundamental dalam forwarding 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Routing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Klasifikasi Protokol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Segoe UI"/>
              </a:defRPr>
            </a:pPr>
            <a:r>
              <a:t>IGP (Interior Gateway Protocol)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Beroperasi dalam satu Autonomous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474720"/>
            <a:ext cx="4389120" cy="914400"/>
          </a:xfrm>
          <a:prstGeom prst="rect">
            <a:avLst/>
          </a:prstGeom>
          <a:solidFill>
            <a:srgbClr val="20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Distance-Vector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RIP, EIGRP — Mengetahui jarak &amp; arah ke destinasi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4389120" cy="914400"/>
          </a:xfrm>
          <a:prstGeom prst="rect">
            <a:avLst/>
          </a:prstGeom>
          <a:solidFill>
            <a:srgbClr val="20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617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BA"/>
                </a:solidFill>
                <a:latin typeface="Segoe UI"/>
              </a:defRPr>
            </a:pPr>
            <a:r>
              <a:t>Link-State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OSPF, IS-IS — Memiliki peta topologi lengkap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5029200" cy="36576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Segoe UI"/>
              </a:defRPr>
            </a:pPr>
            <a:r>
              <a:t>EGP (Exterior Gateway Protocol)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Beroperasi antar Autonomous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474720"/>
            <a:ext cx="4389120" cy="2011680"/>
          </a:xfrm>
          <a:prstGeom prst="rect">
            <a:avLst/>
          </a:prstGeom>
          <a:solidFill>
            <a:srgbClr val="20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520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Segoe UI"/>
              </a:defRPr>
            </a:pPr>
            <a:r>
              <a:t>BGP (Border Gateway Protocol)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93192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Satu-satunya EGP di internet modern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Path-vector protocol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Menghubungkan 70.000+ AS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TCP port 179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Use Cases of Static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Jenis-Jenis Static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BA"/>
                </a:solidFill>
                <a:latin typeface="Segoe UI"/>
              </a:defRPr>
            </a:pPr>
            <a:r>
              <a:t>Default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0.0.0.0/0 — Gateway of last resort untuk trafik tanpa rute spesifik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73152" cy="7315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Segoe UI"/>
              </a:defRPr>
            </a:pPr>
            <a:r>
              <a:t>Floating Static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Static route dengan AD tinggi — aktif hanya saat rute dinamis gagal (backup)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73152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Segoe UI"/>
              </a:defRPr>
            </a:pPr>
            <a:r>
              <a:t>Null/Blackhole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Membuang (discard) paket — DDoS mitigation, blokir trafik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73152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Segoe UI"/>
              </a:defRPr>
            </a:pPr>
            <a:r>
              <a:t>ECMP Static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Multiple static route ke destinasi sama — load balancing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Use Cases of Static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Kapan Menggunakan Static Route?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47472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🏢  Stub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Jaringan kecil dengan satu jalur keluar (kantor cabang)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286000"/>
            <a:ext cx="347472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🌐  Default Route ke ISP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Router edge hanya butuh satu default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2286000"/>
            <a:ext cx="347472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🔄  Backup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Floating static sebagai failover jalur utama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347472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🔒  Keamanan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Memaksa trafik sensitif melewati jalur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4297680"/>
            <a:ext cx="347472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⚙️  Perangkat Terbatas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892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Router dengan CPU/memori terbatas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4297680"/>
            <a:ext cx="347472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8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BA"/>
                </a:solidFill>
                <a:latin typeface="Segoe UI"/>
              </a:defRPr>
            </a:pPr>
            <a:r>
              <a:t>🛡️  Blackhole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4892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Null route untuk mitigasi serangan DDoS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Use Cases of Static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Kelebihan vs Kekurangan Static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029200" cy="3840480"/>
          </a:xfrm>
          <a:prstGeom prst="rect">
            <a:avLst/>
          </a:prstGeom>
          <a:solidFill>
            <a:srgbClr val="0D2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A5"/>
                </a:solidFill>
                <a:latin typeface="Segoe UI"/>
              </a:defRPr>
            </a:pPr>
            <a:r>
              <a:t>✅  KELEBIHAN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Tidak ada overhead (CPU, memori, bandwidth)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Keamanan tinggi — topologi tidak diadvertise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Deterministik — jalur 100% dapat diprediksi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Sederhana — mudah dikonfigurasi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377440"/>
            <a:ext cx="5029200" cy="3840480"/>
          </a:xfrm>
          <a:prstGeom prst="rect">
            <a:avLst/>
          </a:prstGeom>
          <a:solidFill>
            <a:srgbClr val="2B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Segoe UI"/>
              </a:defRPr>
            </a:pPr>
            <a:r>
              <a:t>❌  KEKURANGAN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Tidak skalabel — perlu update manual di banyak router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Tidak adaptif — tidak auto-failover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Rawan human error — typo = blackhole/loop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Butuh pengetahuan topologi lengkap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OSPF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Open Shortest Path First (OSPF)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31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Link-State IGP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Standar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31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RFC 2328 (v2), RFC 5340 (v3)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Algoritma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Dijkstra SPF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91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Cost (bandwidth-based)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0624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Transport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IP Protocol 89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16636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212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Triggered (on-change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166360"/>
            <a:ext cx="5029200" cy="7772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Multicast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212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224.0.0.5 / 224.0.0.6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OSPF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Cara Kerja Link-State Routing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76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Segoe UI"/>
              </a:defRPr>
            </a:pPr>
            <a:r>
              <a:t>Neighbor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Mengirim Hello packets untuk menemukan &amp; membentuk adjacency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0779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895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Segoe UI"/>
              </a:defRPr>
            </a:pPr>
            <a:r>
              <a:t>LSA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278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Menghasilkan Link-State Advertisement berisi info interface &amp; cost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21024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027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Segoe UI"/>
              </a:defRPr>
            </a:pPr>
            <a:r>
              <a:t>LSA Flooding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9410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Flooding LSA ke seluruh router dalam area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334256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Segoe UI"/>
              </a:defRPr>
            </a:pPr>
            <a:r>
              <a:t>LSDB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542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Membangun Link-State Database — peta topologi lengkap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047488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Segoe UI"/>
              </a:defRPr>
            </a:pPr>
            <a:r>
              <a:t>SPF 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675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Menjalankan algoritma Dijkstra pada LSDB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7607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742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Segoe UI"/>
              </a:defRPr>
            </a:pPr>
            <a:r>
              <a:t>Routing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Hasil SPF dikompilasi menjadi tabel routing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OSPF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Desain Hierarkis — Area OSPF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Segoe UI"/>
              </a:defRPr>
            </a:pPr>
            <a:r>
              <a:t>Area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334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Backbone Area — inti dari setiap OSPF multi-area. Semua area harus terhubung ke Area 0.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73152" cy="77724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BA"/>
                </a:solidFill>
                <a:latin typeface="Segoe UI"/>
              </a:defRPr>
            </a:pPr>
            <a:r>
              <a:t>Standard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5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Area reguler yang terhubung langsung ke Area 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73152" cy="7772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Segoe UI"/>
              </a:defRPr>
            </a:pPr>
            <a:r>
              <a:t>Stub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36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Memblokir LSA Type 5 (external routes) untuk mengecilkan routing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73152" cy="7772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Segoe UI"/>
              </a:defRPr>
            </a:pPr>
            <a:r>
              <a:t>NSSA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88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Not-So-Stubby Area — memperbolehkan redistribusi external terbatas via LSA Type 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Tipe Router OSPF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2651760" cy="91440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Internal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Semua interface dalam 1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5394960"/>
            <a:ext cx="2651760" cy="91440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ABR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760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Menghubungkan ≥2 area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394960"/>
            <a:ext cx="2651760" cy="91440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ASBR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760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Koneksi ke jaringan eksternal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5394960"/>
            <a:ext cx="2651760" cy="91440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DR/BDR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5760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Elected di multi-access network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OSPF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Tipe-Tipe LSA (Link-State Advertisement)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69848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31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Fungsi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10698480" cy="59436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Type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077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Router LSA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077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Setiap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9077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Interface &amp; cost dalam 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10698480" cy="59436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935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Type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93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Network LSA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93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93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Router pada segmen multi-access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10698480" cy="59436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Type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279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Summary LSA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2793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793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Jaringan antar area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92040"/>
            <a:ext cx="10698480" cy="59436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651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Type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965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ASBR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9651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ABR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65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Reachability ke ASBR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509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Type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650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AS 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650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ASBR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6509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Rute dari luar domain OSPF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OSPF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Algoritma SPF (Dijkstra)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Graph Model: Node = Router/Network  |  Edge = Link  |  Weight = OSPF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502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971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Router menempatkan dirinya sebagai root node (cost =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657600"/>
            <a:ext cx="502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03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Evaluasi semua neighbor, hitung cumulative cost ke setiap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389120"/>
            <a:ext cx="502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Pilih node dengan cost terendah → tambahkan ke Shortest Path Tree (SPT)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120640"/>
            <a:ext cx="502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166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Ulangi proses secara iteratif hingga semua destinasi terevaluasi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852160"/>
            <a:ext cx="502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897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Hasil SPT dikompilasi menjadi IP Routing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577840"/>
            <a:ext cx="6400800" cy="64008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56235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Cost = Reference Bandwidth (100 Mbps) / Interface Bandwidth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IS-IS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93D"/>
                </a:solidFill>
                <a:latin typeface="Segoe UI"/>
              </a:defRPr>
            </a:pPr>
            <a:r>
              <a:t>Intermediate System to Intermediate System (IS-IS)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Protokol routing link-state dari ISO (International Organization for Standardization)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Banyak digunakan oleh ISP besar dan operator backbone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Integrated IS-IS (RFC 1195) mendukung IPv4 dan IPv6 via TLV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• Berjalan langsung di Layer 2 (bukan di atas IP seperti OSPF)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IS-IS vs OSPF — Perbandingan Kunci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32004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3360" y="438912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4389120"/>
            <a:ext cx="38404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074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Aspek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407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IS-IS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407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OSPF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698480" cy="320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463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ISO/OSI (CLNS)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84632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IETF (IP-native)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93792"/>
            <a:ext cx="10698480" cy="3200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9379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Enkapsulasi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19379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Layer 2 langsung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19379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IP Protocol 89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41264"/>
            <a:ext cx="10698480" cy="320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41264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Addressing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4126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NSAP/NET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54126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IP Address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88736"/>
            <a:ext cx="10698480" cy="3200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88736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Hierarki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88873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Level 1/2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88873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Area (Area 0 backbone)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23620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Batas Area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23620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Pada link antar 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62362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Pada router (ABR)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583680"/>
            <a:ext cx="10698480" cy="32004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58368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Extensibility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5836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TLV (mudah diperluas)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658368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Perlu RFC baru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IS-IS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CLNS &amp; NSAP/NET Addressing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164592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Segoe UI"/>
              </a:defRPr>
            </a:pPr>
            <a:r>
              <a:t>CLNS (Connectionless-mode Network 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Layanan jaringan OSI, setara IP di TCP/IP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IS-IS beroperasi native di atas CLNS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Integrated IS-IS membawa IPv4/IPv6 via TLV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5029200" cy="164592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Segoe UI"/>
              </a:defRPr>
            </a:pPr>
            <a:r>
              <a:t>NSAP &amp; 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NSAP = identitas router dalam IS-IS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NET = NSAP dengan NSEL = 00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Panjang: 8-20 byte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Segoe UI"/>
              </a:defRPr>
            </a:pPr>
            <a:r>
              <a:t>Struktur NET (Network Entity Title)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754880"/>
            <a:ext cx="9144000" cy="1645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onsolas"/>
              </a:defRPr>
            </a:pPr>
            <a:r>
              <a:t>49 . 0001 . 0192.1680.0001 . 00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Segoe UI"/>
              </a:defRPr>
            </a:pPr>
            <a:r>
              <a:t>AFI (49=private)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394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CBA"/>
                </a:solidFill>
                <a:latin typeface="Segoe UI"/>
              </a:defRPr>
            </a:pPr>
            <a:r>
              <a:t>Area ID (0001)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394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A5"/>
                </a:solidFill>
                <a:latin typeface="Segoe UI"/>
              </a:defRPr>
            </a:pPr>
            <a:r>
              <a:t>System ID (6 bytes, unik)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394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Segoe UI"/>
              </a:defRPr>
            </a:pPr>
            <a:r>
              <a:t>NSEL (00)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IS-IS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Hierarki Level IS-IS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566160" cy="41148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BA"/>
                </a:solidFill>
                <a:latin typeface="Segoe UI"/>
              </a:defRPr>
            </a:pPr>
            <a:r>
              <a:t>Level 1 (L1)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Intra-Area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Adjacency hanya dengan L1 router di area yang sama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LSDB hanya berisi info area lokal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Default route dari L1/L2 router untuk keluar area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≈ Non-backbone area di OSPF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566160" cy="41148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Segoe UI"/>
              </a:defRPr>
            </a:pPr>
            <a:r>
              <a:t>Level 2 (L2)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Inter-Area /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Membentuk backbone antar area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L2 LSDB berisi topologi inter-area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Adjacency dengan L2 atau L1/L2 router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≈ Area 0 (Backbone) di OSPF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566160" cy="41148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Segoe UI"/>
              </a:defRPr>
            </a:pPr>
            <a:r>
              <a:t>Level 1/2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Border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Jembatan antara L1 dan L2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Memelihara DUA LSDB terpisah (L1 + L2)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Set ATT bit pada L1 LSP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≈ ABR di OSPF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BGP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Border Gateway Protocol (BGP)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"Protokol yang menjalankan internet"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029200" cy="6400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Tipe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Path-Vector EGP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029200" cy="6400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Standar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RFC 4271 (BGP-4)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20440"/>
            <a:ext cx="5029200" cy="6400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TCP Port 179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20440"/>
            <a:ext cx="5029200" cy="6400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20 (EBGP) / 200 (IBGP)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5029200" cy="6400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Incremental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5029200" cy="6400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AS di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70.000+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Autonomous System Number (ASN)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69280"/>
            <a:ext cx="3474720" cy="7315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BA"/>
                </a:solidFill>
                <a:latin typeface="Segoe UI"/>
              </a:defRPr>
            </a:pPr>
            <a:r>
              <a:t>2-byte ASN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0 – 65.535 (format lama)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5669280"/>
            <a:ext cx="3474720" cy="7315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19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Segoe UI"/>
              </a:defRPr>
            </a:pPr>
            <a:r>
              <a:t>4-byte ASN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5989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0 – 4.294.967.295 (format baru)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8" y="5669280"/>
            <a:ext cx="3474720" cy="7315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8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Private ASN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8" y="5989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64512–65534 (internal use only)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BGP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EBGP vs IBGP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Segoe UI"/>
              </a:defRPr>
            </a:pPr>
            <a:r>
              <a:t>External BGP (EBGP)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Peering antar AS yang BERBEDA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Peer harus directly connected (default)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Administrative Distance: 20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ASN ditambahkan ke AS_PATH setiap hop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Digunakan untuk: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→ Interkoneksi antar ISP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→ Peering di IXP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→ Koneksi customer-provider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5029200" cy="411480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BA"/>
                </a:solidFill>
                <a:latin typeface="Segoe UI"/>
              </a:defRPr>
            </a:pPr>
            <a:r>
              <a:t>Internal BGP (IBGP)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Peering dalam AS yang SAMA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Tidak perlu directly connected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Administrative Distance: 200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Butuh full-mesh atau: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→ Route Reflector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→ Confederation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Rute dari IBGP peer tidak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diadvertise ulang ke IBGP lain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BGP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BGP Path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Atribut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Kategori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Fungsi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Preferensi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10698480" cy="502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Cisco proprietary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Lokal per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Higher = better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LOCAL_PREF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Well-known Disc.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Exit path dalam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Higher = better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86200"/>
            <a:ext cx="10698480" cy="502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AS_PATH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Well-known Mand.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Daftar AS dilalui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931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Shorter = better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10698480" cy="50292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ORIGIN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Well-known Mand.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Asal rute (IGP/EGP)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Lower = better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74920"/>
            <a:ext cx="10698480" cy="50292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20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120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Optional Non-trans.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20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Entry point ke 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20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Lower = better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715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NEXT_HOP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715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Well-known Mand.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715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IP next-hop router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715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Must be reachable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BGP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BGP Session States (Finite State Machine)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591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State awal; belum memulai koneksi TCP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44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7238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Mencoba membuat koneksi TCP ke port 179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12464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58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8561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Koneksi TCP gagal; mencoba ulang secara aktif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25696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OpenSent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471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4988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TCP berhasil; mengirim pesan OPEN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38928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OpenConfirm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184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OPEN diterima; menunggu KEEPALIVE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52160"/>
            <a:ext cx="1828800" cy="50292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Established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9253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Session aktif; pertukaran routing dimulai 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371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BGP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93D"/>
                </a:solidFill>
                <a:latin typeface="Segoe UI"/>
              </a:defRPr>
            </a:pPr>
            <a:r>
              <a:t>BGP Best Path Selection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10058400" cy="384048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t>1.  Highest Weight (Cisco proprietary)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33472"/>
            <a:ext cx="10058400" cy="38404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t>2.  Highest LOCAL_PREF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72384"/>
            <a:ext cx="10058400" cy="384048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906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Segoe UI"/>
              </a:defRPr>
            </a:pPr>
            <a:r>
              <a:t>3.  Locally originated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11296"/>
            <a:ext cx="10058400" cy="38404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958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Segoe UI"/>
              </a:defRPr>
            </a:pPr>
            <a:r>
              <a:t>4.  Shortest AS_PATH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50208"/>
            <a:ext cx="10058400" cy="384048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684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D93D"/>
                </a:solidFill>
                <a:latin typeface="Segoe UI"/>
              </a:defRPr>
            </a:pPr>
            <a:r>
              <a:t>5.  Lowest Origin type (IGP &lt; EGP &lt; Incomplete)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89120"/>
            <a:ext cx="10058400" cy="38404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074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D93D"/>
                </a:solidFill>
                <a:latin typeface="Segoe UI"/>
              </a:defRPr>
            </a:pPr>
            <a:r>
              <a:t>6.  Lowest 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828032"/>
            <a:ext cx="10058400" cy="384048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D93D"/>
                </a:solidFill>
                <a:latin typeface="Segoe UI"/>
              </a:defRPr>
            </a:pPr>
            <a:r>
              <a:t>7.  EBGP over IBGP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266944"/>
            <a:ext cx="10058400" cy="38404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8.  Nearest IGP neighbor (lowest IGP metric)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705856"/>
            <a:ext cx="10058400" cy="384048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7241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9.  Oldest route (stability)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144768"/>
            <a:ext cx="10058400" cy="384048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6305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10. Lowest Router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Segoe UI"/>
              </a:defRPr>
            </a:pPr>
            <a:r>
              <a:t>PRIORITAS 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📌  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03520" cy="1463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BA"/>
                </a:solidFill>
                <a:latin typeface="Segoe UI"/>
              </a:defRPr>
            </a:pPr>
            <a:r>
              <a:t>Static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Ideal untuk stub network, backup, perangkat terbatas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1463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73152" cy="1463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OSPF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Cocok untuk enterprise menengah–besar; desain hierarkis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303520" cy="1463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73152" cy="1463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  <a:latin typeface="Segoe UI"/>
              </a:defRPr>
            </a:pPr>
            <a:r>
              <a:t>IS-IS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Pilihan utama ISP &amp; backbone; skalabel via TLV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5303520" cy="1463040"/>
          </a:xfrm>
          <a:prstGeom prst="rect">
            <a:avLst/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Segoe UI"/>
              </a:defRPr>
            </a:pPr>
            <a:r>
              <a:t>BGP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Satu-satunya EGP di internet; path-vector antar 70K+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C0"/>
                </a:solidFill>
                <a:latin typeface="Segoe UI"/>
              </a:defRPr>
            </a:pPr>
            <a:r>
              <a:t>Referensi: APNIC Academy — Routing Fundamentals 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https://academy.apnic.net/en/course/routing-fundamentals-course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